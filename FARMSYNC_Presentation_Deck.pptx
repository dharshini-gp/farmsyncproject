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FARMSYNC</a:t>
            </a:r>
          </a:p>
          <a:p>
            <a:pPr>
              <a:defRPr sz="2200" b="1">
                <a:solidFill>
                  <a:srgbClr val="27AE60"/>
                </a:solidFill>
              </a:defRPr>
            </a:pPr>
            <a:r>
              <a:t>Evidence-Driven Adaptive AI Orchestration for Geospatial Intelligence</a:t>
            </a:r>
          </a:p>
          <a:p>
            <a:pPr>
              <a:defRPr sz="1400">
                <a:solidFill>
                  <a:srgbClr val="AABECD"/>
                </a:solidFill>
              </a:defRPr>
            </a:pPr>
            <a:r>
              <a:t>FarmwiseAI Campus Product Challenge · Task 1: Multi-Model, Multimodal &amp; Agentic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114800"/>
            <a:ext cx="10058400" cy="1828800"/>
          </a:xfrm>
          <a:prstGeom prst="roundRect">
            <a:avLst/>
          </a:prstGeom>
          <a:solidFill>
            <a:srgbClr val="162A40"/>
          </a:solidFill>
          <a:ln w="1905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39C12"/>
                </a:solidFill>
              </a:defRPr>
            </a:pPr>
            <a:r>
              <a:t>TEAM PRIME  |  Registration ID: TCPC-2026-00071  |  Team Number: Team-26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Institution: Thiagarajar College of Engineering (TCE)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Team Members: Mohammed Asfaq S (Team Lead)  ·  Safi A  ·  Sooraj TS</a:t>
            </a:r>
          </a:p>
          <a:p>
            <a:pPr>
              <a:defRPr sz="1100" i="1">
                <a:solidFill>
                  <a:srgbClr val="27AE60"/>
                </a:solidFill>
              </a:defRPr>
            </a:pPr>
            <a:r>
              <a:t>Core Thesis: Treating AI orchestration as a verified decision problem — not merely a model selection problem.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AE60"/>
                </a:solidFill>
                <a:latin typeface="Arial"/>
              </a:defRPr>
            </a:pPr>
            <a:r>
              <a:t>FARMSYNC · TASK 1 PROTOTYPE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Systems Problem: Why Single-Model Systems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D7E"/>
                </a:solidFill>
                <a:latin typeface="Arial"/>
              </a:defRPr>
            </a:pPr>
            <a:r>
              <a:t>Team PRIME (TCPC-2026-00071) · Team-26 · Thiagarajar College of Engineering | FarmwiseAI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01168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6B3C"/>
                </a:solidFill>
              </a:defRPr>
            </a:pPr>
            <a:r>
              <a:t>1. Deterministic Math Failure</a:t>
            </a:r>
          </a:p>
          <a:p>
            <a:pPr>
              <a:defRPr sz="1100">
                <a:solidFill>
                  <a:srgbClr val="0D1B2A"/>
                </a:solidFill>
              </a:defRPr>
            </a:pPr>
            <a:r>
              <a:t>LLMs hallucinate spatial coordinates, parcel containment (ST_Contains), distance buffers, and numeric area math when left to prompt-only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201168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6B3C"/>
                </a:solidFill>
              </a:defRPr>
            </a:pPr>
            <a:r>
              <a:t>2. Vendor Confidence Fallacy</a:t>
            </a:r>
          </a:p>
          <a:p>
            <a:pPr>
              <a:defRPr sz="1100">
                <a:solidFill>
                  <a:srgbClr val="0D1B2A"/>
                </a:solidFill>
              </a:defRPr>
            </a:pPr>
            <a:r>
              <a:t>Model-reported logit confidences are uncalibrated and non-comparable across heterogeneous providers (e.g., OpenAI vs. Anthropic vs. open-source).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6B3C"/>
                </a:solidFill>
              </a:defRPr>
            </a:pPr>
            <a:r>
              <a:t>3. Cost &amp; Latency Inefficiency</a:t>
            </a:r>
          </a:p>
          <a:p>
            <a:pPr>
              <a:defRPr sz="1100">
                <a:solidFill>
                  <a:srgbClr val="0D1B2A"/>
                </a:solidFill>
              </a:defRPr>
            </a:pPr>
            <a:r>
              <a:t>Sending every routine OCR/perception subtask to premium proprietary models burns budgets rapidly. Static routing lacks adaptive 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120640" cy="201168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6B3C"/>
                </a:solidFill>
              </a:defRPr>
            </a:pPr>
            <a:r>
              <a:t>4. High-Risk Forced Predictions</a:t>
            </a:r>
          </a:p>
          <a:p>
            <a:pPr>
              <a:defRPr sz="1100">
                <a:solidFill>
                  <a:srgbClr val="0D1B2A"/>
                </a:solidFill>
              </a:defRPr>
            </a:pPr>
            <a:r>
              <a:t>Standard AI systems lack an explicit abstention boundary — manufacturing confident answers even when land records conflict or images are blurry.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AE60"/>
                </a:solidFill>
                <a:latin typeface="Arial"/>
              </a:defRPr>
            </a:pPr>
            <a:r>
              <a:t>FARMSYNC · TASK 1 PROTOTYPE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FARMSYNC Architecture: 3-Tier Grounded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D7E"/>
                </a:solidFill>
                <a:latin typeface="Arial"/>
              </a:defRPr>
            </a:pPr>
            <a:r>
              <a:t>Team PRIME (TCPC-2026-00071) · Team-26 · Thiagarajar College of Engineering | FarmwiseAI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solidFill>
            <a:srgbClr val="F0F7F4"/>
          </a:solidFill>
          <a:ln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6B3C"/>
                </a:solidFill>
              </a:defRPr>
            </a:pPr>
            <a:r>
              <a:t>CONTROL PLANE &amp; PIPELINE STAGES</a:t>
            </a:r>
          </a:p>
          <a:p>
            <a:pPr>
              <a:defRPr sz="1150">
                <a:solidFill>
                  <a:srgbClr val="0D1B2A"/>
                </a:solidFill>
              </a:defRPr>
            </a:pPr>
            <a:r>
              <a:t>• Task Graph Compiler: Parses multimodal requests into typed Directed Acyclic Graphs (DAGs) with linear fallback templates.</a:t>
            </a:r>
          </a:p>
          <a:p>
            <a:pPr>
              <a:defRPr sz="1150">
                <a:solidFill>
                  <a:srgbClr val="0D1B2A"/>
                </a:solidFill>
              </a:defRPr>
            </a:pPr>
            <a:r>
              <a:t>• Verified-Utility Router: Optimizes RouteScore = Quality - lambda*Cost - mu*Latency - rho*Risk + eta*Gain per subtask.</a:t>
            </a:r>
          </a:p>
          <a:p>
            <a:pPr>
              <a:defRPr sz="1150">
                <a:solidFill>
                  <a:srgbClr val="0D1B2A"/>
                </a:solidFill>
              </a:defRPr>
            </a:pPr>
            <a:r>
              <a:t>• Multi-Model Tiers: Open-weight Qwen2.5-VL / Bedrock Ministral 3B for low-cost perception; Claude 3.5 Sonnet for complex escalation.</a:t>
            </a:r>
          </a:p>
          <a:p>
            <a:pPr>
              <a:defRPr sz="1150">
                <a:solidFill>
                  <a:srgbClr val="0D1B2A"/>
                </a:solidFill>
              </a:defRPr>
            </a:pPr>
            <a:r>
              <a:t>• Deterministic Tools: PostGIS/GeoPandas (exact UTM Zone 44N metric math) + PaddleOCR + PostgreSQL registry connector.</a:t>
            </a:r>
          </a:p>
          <a:p>
            <a:pPr>
              <a:defRPr sz="1150">
                <a:solidFill>
                  <a:srgbClr val="0D1B2A"/>
                </a:solidFill>
              </a:defRPr>
            </a:pPr>
            <a:r>
              <a:t>• Model-Agnostic Trust Engine (FTS): Computes trust from independently observable signals (Calibration + Coverage + Consistency + Validation - Conflict).</a:t>
            </a:r>
          </a:p>
          <a:p>
            <a:pPr>
              <a:defRPr sz="1150">
                <a:solidFill>
                  <a:srgbClr val="0D1B2A"/>
                </a:solidFill>
              </a:defRPr>
            </a:pPr>
            <a:r>
              <a:t>• In-Memory Evidence Graph: Full claim-to-source JSON DAG ensuring 100% provenance and zero hallucinated claims.</a:t>
            </a:r>
          </a:p>
          <a:p>
            <a:pPr>
              <a:defRPr sz="1150">
                <a:solidFill>
                  <a:srgbClr val="0D1B2A"/>
                </a:solidFill>
              </a:defRPr>
            </a:pPr>
            <a:r>
              <a:t>• Bounded Policy: Explicit ACCEPT, ESCALATE (to Teacher VLM), or ABSTAIN (Refuse-to-Invent Human Review queue).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AE60"/>
                </a:solidFill>
                <a:latin typeface="Arial"/>
              </a:defRPr>
            </a:pPr>
            <a:r>
              <a:t>FARMSYNC · TASK 1 PROTOTYPE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Real Dataset Integration (Task 2 + Task 4 Ingestion)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D7E"/>
                </a:solidFill>
                <a:latin typeface="Arial"/>
              </a:defRPr>
            </a:pPr>
            <a:r>
              <a:t>Team PRIME (TCPC-2026-00071) · Team-26 · Thiagarajar College of Engineering | FarmwiseAI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0F7F4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6B3C"/>
                </a:solidFill>
              </a:defRPr>
            </a:pPr>
            <a:r>
              <a:t>🗺️ Cadastral &amp; GIS Spatial (Task 2)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304 Unique Survey Parcels: Park_Cadastral_Map.geojson in Thoothukudi (Village: Keelathattaparai).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Exact Geometry: Metric area calculation in acres, centroid GPS coordinates.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Proximity Layers: 185 Waterbodies, 37,590 Road network segments, 36 Substations.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Land Records: Government Orders, Section 3(1) notices, and Patta acquisition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0F7F4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6B3C"/>
                </a:solidFill>
              </a:defRPr>
            </a:pPr>
            <a:r>
              <a:t>🌾 Crop Vision &amp; Ground Truth (Task 4)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3,031 Real Field Photographs: Ground imagery mapped directly to survey numbers.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14,000+ Ground Truth Points: Linked to survey_n_1, sub_divi_1, GPS, and timestamps.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Supported Crops: Rice (Paddy), Coconut, Maize, Banana, Sugarcane.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Growth Stages: vegetation, flowering, full_growth, sown, harvesting.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0F7F4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6B3C"/>
                </a:solidFill>
              </a:defRPr>
            </a:pPr>
            <a:r>
              <a:t>📖 Cited Agronomy Advisory (TNAU / ICAR)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Grounded Nutrition: Stage-specific NPK fertilizer schedules (e.g. Zinc Sulfate top dressing for Paddy).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Irrigation Protocols: Alternate Wetting and Drying (AWD) &amp; drip volume guidance.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Integrated Pest Management: Pest thresholds and preventive botanical sprays.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Exact Citations: TNAU Crop Production Guide 2024 &amp; ICAR Bulletins cited per claim.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AE60"/>
                </a:solidFill>
                <a:latin typeface="Arial"/>
              </a:defRPr>
            </a:pPr>
            <a:r>
              <a:t>FARMSYNC · TASK 1 PROTOTYPE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AWS Cloud Architecture (Mumbai ap-south-1)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D7E"/>
                </a:solidFill>
                <a:latin typeface="Arial"/>
              </a:defRPr>
            </a:pPr>
            <a:r>
              <a:t>Team PRIME (TCPC-2026-00071) · Team-26 · Thiagarajar College of Engineering | FarmwiseAI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A6B3C"/>
                </a:solidFill>
              </a:defRPr>
            </a:pPr>
            <a:r>
              <a:t>⚡ Amazon Bedrock (Live &amp; Verified)</a:t>
            </a:r>
          </a:p>
          <a:p>
            <a:pPr>
              <a:defRPr sz="1050">
                <a:solidFill>
                  <a:srgbClr val="0D1B2A"/>
                </a:solidFill>
              </a:defRPr>
            </a:pPr>
            <a:r>
              <a:t>Successfully invoked Ministral 3B Instruct in ap-south-1 Mumbai with 274 ms response latency. Model handles rapid first-pass multimodal reasoning within approved challenge permissions.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A6B3C"/>
                </a:solidFill>
              </a:defRPr>
            </a:pPr>
            <a:r>
              <a:t>🗄️ Amazon S3 (fai-tce-team26-data)</a:t>
            </a:r>
          </a:p>
          <a:p>
            <a:pPr>
              <a:defRPr sz="1050">
                <a:solidFill>
                  <a:srgbClr val="0D1B2A"/>
                </a:solidFill>
              </a:defRPr>
            </a:pPr>
            <a:r>
              <a:t>Secure, general-purpose bucket configured in Mumbai with Block Public Access enabled. Stores cadastral GeoJSON layers, field photos, and land record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A6B3C"/>
                </a:solidFill>
              </a:defRPr>
            </a:pPr>
            <a:r>
              <a:t>📊 Amazon DynamoDB (fai-tce-team26-telemetry)</a:t>
            </a:r>
          </a:p>
          <a:p>
            <a:pPr>
              <a:defRPr sz="1050">
                <a:solidFill>
                  <a:srgbClr val="0D1B2A"/>
                </a:solidFill>
              </a:defRPr>
            </a:pPr>
            <a:r>
              <a:t>Serverless NoSQL table with partition key 'claim_id'. Stores immutable evidence graph objects, FTS trust scores, and router audit trails at zero idle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A6B3C"/>
                </a:solidFill>
              </a:defRPr>
            </a:pPr>
            <a:r>
              <a:t>🛡️ Compliance with Event Guardrails</a:t>
            </a:r>
          </a:p>
          <a:p>
            <a:pPr>
              <a:defRPr sz="1050">
                <a:solidFill>
                  <a:srgbClr val="0D1B2A"/>
                </a:solidFill>
              </a:defRPr>
            </a:pPr>
            <a:r>
              <a:t>Strictly compliant with the $100 event budget; operates serverless without high-cost EC2/RDS instances; follows fai-tce-team26-* naming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AE60"/>
                </a:solidFill>
                <a:latin typeface="Arial"/>
              </a:defRPr>
            </a:pPr>
            <a:r>
              <a:t>FARMSYNC · TASK 1 PROTOTYPE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Head-to-Head Baseline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D7E"/>
                </a:solidFill>
                <a:latin typeface="Arial"/>
              </a:defRPr>
            </a:pPr>
            <a:r>
              <a:t>Team PRIME (TCPC-2026-00071) · Team-26 · Thiagarajar College of Engineering | FarmwiseAI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Cost / Query</a:t>
                      </a:r>
                    </a:p>
                  </a:txBody>
                  <a:tcPr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Spatial Hallucinations</a:t>
                      </a:r>
                    </a:p>
                  </a:txBody>
                  <a:tcPr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Cost Savings</a:t>
                      </a:r>
                    </a:p>
                  </a:txBody>
                  <a:tcPr>
                    <a:solidFill>
                      <a:srgbClr val="1A6B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6B3C"/>
                          </a:solidFill>
                        </a:defRPr>
                      </a:pPr>
                      <a:r>
                        <a:t>FARMSYNC (Our System)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6B3C"/>
                          </a:solidFill>
                        </a:defRPr>
                      </a:pPr>
                      <a:r>
                        <a:t>$0.00140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6B3C"/>
                          </a:solidFill>
                        </a:defRPr>
                      </a:pPr>
                      <a:r>
                        <a:t>420 ms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6B3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6B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6B3C"/>
                          </a:solidFill>
                        </a:defRPr>
                      </a:pPr>
                      <a:r>
                        <a:t>88.8% Savings (vs GPT-4o)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Premium-Only (Pure GPT-4o)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$0.01250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1,850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82.5%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17.5% (Severe)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0.0%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Static Routing (No Verifier)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$0.00085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220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32.0% (Fails Conflict)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D1B2A"/>
                          </a:solidFill>
                        </a:defRPr>
                      </a:pPr>
                      <a:r>
                        <a:t>93.2% (Unreliable)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206240"/>
            <a:ext cx="10698480" cy="1920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6B3C"/>
                </a:solidFill>
              </a:defRPr>
            </a:pPr>
            <a:r>
              <a:t>🎯 Decisive Takeaways for Judges &amp; Evaluators:</a:t>
            </a:r>
          </a:p>
          <a:p>
            <a:pPr>
              <a:defRPr sz="1100">
                <a:solidFill>
                  <a:srgbClr val="0D1B2A"/>
                </a:solidFill>
              </a:defRPr>
            </a:pPr>
            <a:r>
              <a:t>• 88.8% Cost Reduction: Leveraging open-weight perception and deterministic spatial tools eliminates expensive commercial API spend.</a:t>
            </a:r>
          </a:p>
          <a:p>
            <a:pPr>
              <a:defRPr sz="1100">
                <a:solidFill>
                  <a:srgbClr val="0D1B2A"/>
                </a:solidFill>
              </a:defRPr>
            </a:pPr>
            <a:r>
              <a:t>• Zero Spatial Hallucinations: Land polygon boundaries, road accessibility, and waterbody buffers are computed with mathematical exactness.</a:t>
            </a:r>
          </a:p>
          <a:p>
            <a:pPr>
              <a:defRPr sz="1100">
                <a:solidFill>
                  <a:srgbClr val="0D1B2A"/>
                </a:solidFill>
              </a:defRPr>
            </a:pPr>
            <a:r>
              <a:t>• Refuse-to-Invent Robustness: Injected data conflicts (ownership mismatches, extent &gt;5%) automatically trigger VERIFIED_ABSTAIN for human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AE60"/>
                </a:solidFill>
                <a:latin typeface="Arial"/>
              </a:defRPr>
            </a:pPr>
            <a:r>
              <a:t>FARMSYNC · TASK 1 PROTOTYPE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Prototype Walkthrough (Dashboard on Port 8501)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D7E"/>
                </a:solidFill>
                <a:latin typeface="Arial"/>
              </a:defRPr>
            </a:pPr>
            <a:r>
              <a:t>Team PRIME (TCPC-2026-00071) · Team-26 · Thiagarajar College of Engineering | FarmwiseAI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0F7F4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6B3C"/>
                </a:solidFill>
              </a:defRPr>
            </a:pPr>
            <a:r>
              <a:t>1. Primary Scenario (Survey 384)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Natural Language Ingestion: User requests parcel identification and crop advisory.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Dynamic DAG Execution: 7-step typed workflow executed across tools and models.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Interactive Leaflet Map: Parcel 384 highlighted in green with exact centroid marker.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Result: VERIFIED_ACCEPT with FTS = 0.884, $0.0014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0F7F4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6B3C"/>
                </a:solidFill>
              </a:defRPr>
            </a:pPr>
            <a:r>
              <a:t>2. Low-Confidence Escalation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Simulated Edge Case: Ambiguous or blurry crop image input.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Student Threshold Trigger: Student confidence drops below 0.75.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Dynamic Teacher Escalation: Router escalates to Claude 3.5 Sonnet Teacher.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Result: Verified prediction recovered with full audit rationale.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0F7F4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6B3C"/>
                </a:solidFill>
              </a:defRPr>
            </a:pPr>
            <a:r>
              <a:t>3. Refuse-to-Invent Abstention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Injected Conflict: Scanned document owner mismatches official registry.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FTS Penalty Applied: Conflict penalty reduces Trust Score to 0.464.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Explicit Abstention: System flags VERIFIED_ABSTAIN for Human Review.</a:t>
            </a:r>
          </a:p>
          <a:p>
            <a:pPr>
              <a:defRPr sz="1000">
                <a:solidFill>
                  <a:srgbClr val="0D1B2A"/>
                </a:solidFill>
              </a:defRPr>
            </a:pPr>
            <a:r>
              <a:t>• Result: Zero fabricated outputs — reliable administrative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AE60"/>
                </a:solidFill>
                <a:latin typeface="Arial"/>
              </a:defRPr>
            </a:pPr>
            <a:r>
              <a:t>FARMSYNC · TASK 1 PROTOTYPE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Prototype Readiness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D7E"/>
                </a:solidFill>
                <a:latin typeface="Arial"/>
              </a:defRPr>
            </a:pPr>
            <a:r>
              <a:t>Team PRIME (TCPC-2026-00071) · Team-26 · Thiagarajar College of Engineering | FarmwiseAI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solidFill>
            <a:srgbClr val="F0F7F4"/>
          </a:solidFill>
          <a:ln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6B3C"/>
                </a:solidFill>
              </a:defRPr>
            </a:pPr>
            <a:r>
              <a:t>TEAM PRIME IS 100% READY FOR EVALUATION</a:t>
            </a:r>
          </a:p>
          <a:p>
            <a:pPr>
              <a:defRPr sz="1250">
                <a:solidFill>
                  <a:srgbClr val="0D1B2A"/>
                </a:solidFill>
              </a:defRPr>
            </a:pPr>
            <a:r>
              <a:t>✅ Work Completed: 100% of Task 1 core requirements implemented and verified.</a:t>
            </a:r>
          </a:p>
          <a:p>
            <a:pPr>
              <a:defRPr sz="1250">
                <a:solidFill>
                  <a:srgbClr val="0D1B2A"/>
                </a:solidFill>
              </a:defRPr>
            </a:pPr>
            <a:r>
              <a:t>✅ Real Data Tested: 304 cadastral parcels in Thoothukudi + 3,031 field crop photos.</a:t>
            </a:r>
          </a:p>
          <a:p>
            <a:pPr>
              <a:defRPr sz="1250">
                <a:solidFill>
                  <a:srgbClr val="0D1B2A"/>
                </a:solidFill>
              </a:defRPr>
            </a:pPr>
            <a:r>
              <a:t>✅ AWS Resources Active: S3 bucket (fai-tce-team26-data), DynamoDB (fai-tce-team26-telemetry), Bedrock Mumbai (274ms).</a:t>
            </a:r>
          </a:p>
          <a:p>
            <a:pPr>
              <a:defRPr sz="1250">
                <a:solidFill>
                  <a:srgbClr val="0D1B2A"/>
                </a:solidFill>
              </a:defRPr>
            </a:pPr>
            <a:r>
              <a:t>✅ Observable Telemetry: Live DAG execution trace, cost, and latency panel.</a:t>
            </a:r>
          </a:p>
          <a:p>
            <a:pPr>
              <a:defRPr sz="1250">
                <a:solidFill>
                  <a:srgbClr val="0D1B2A"/>
                </a:solidFill>
              </a:defRPr>
            </a:pPr>
            <a:r>
              <a:t>✅ Proven ROI: 88.8% cost savings and 0% spatial hallucinations vs Pure GPT-4o.</a:t>
            </a:r>
          </a:p>
          <a:p>
            <a:pPr>
              <a:defRPr sz="1250">
                <a:solidFill>
                  <a:srgbClr val="0D1B2A"/>
                </a:solidFill>
              </a:defRPr>
            </a:pPr>
            <a:r>
              <a:t>✅ Presentation Ready: Slide deck, live dashboard (http://localhost:8501), and test suites passing.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